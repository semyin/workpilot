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收入（元）</c:v>
                </c:pt>
              </c:strCache>
            </c:strRef>
          </c:tx>
          <c:spPr>
            <a:solidFill>
              <a:srgbClr val="2F5597"/>
            </a:solidFill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700</c:v>
                </c:pt>
                <c:pt idx="1">
                  <c:v>720</c:v>
                </c:pt>
                <c:pt idx="2">
                  <c:v>600</c:v>
                </c:pt>
              </c:numCache>
            </c:numRef>
          </c:val>
        </c:ser>
        <c:dLbls>
          <c:numFmt formatCode="¥#,##0" sourceLinked="0"/>
          <c:txPr>
            <a:bodyPr/>
            <a:lstStyle/>
            <a:p>
              <a:pPr>
                <a:defRPr sz="1200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销量（件）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15</c:v>
                </c:pt>
                <c:pt idx="2">
                  <c:v>10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销售汇报 · 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微软雅黑"/>
              </a:rPr>
              <a:t>2026 年 10 月 · 虚构演示数据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560320" cy="1737360"/>
          </a:xfrm>
          <a:prstGeom prst="roundRect">
            <a:avLst/>
          </a:prstGeom>
          <a:solidFill>
            <a:srgbClr val="EEF3FB"/>
          </a:solidFill>
          <a:ln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33333"/>
                </a:solidFill>
                <a:latin typeface="微软雅黑"/>
              </a:rPr>
              <a:t>总销量</a:t>
            </a:r>
          </a:p>
          <a:p>
            <a:pPr algn="ctr"/>
            <a:r>
              <a:rPr sz="2400" b="1">
                <a:solidFill>
                  <a:srgbClr val="2F5597"/>
                </a:solidFill>
                <a:latin typeface="微软雅黑"/>
              </a:rPr>
              <a:t>45 件</a:t>
            </a:r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</a:rPr>
              <a:t>产品 A / B / C 合计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737360"/>
            <a:ext cx="2560320" cy="1737360"/>
          </a:xfrm>
          <a:prstGeom prst="roundRect">
            <a:avLst/>
          </a:prstGeom>
          <a:solidFill>
            <a:srgbClr val="EEF3FB"/>
          </a:solidFill>
          <a:ln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33333"/>
                </a:solidFill>
                <a:latin typeface="微软雅黑"/>
              </a:rPr>
              <a:t>总收入</a:t>
            </a:r>
          </a:p>
          <a:p>
            <a:pPr algn="ctr"/>
            <a:r>
              <a:rPr sz="2400" b="1">
                <a:solidFill>
                  <a:srgbClr val="2F5597"/>
                </a:solidFill>
                <a:latin typeface="微软雅黑"/>
              </a:rPr>
              <a:t>¥2,020</a:t>
            </a:r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</a:rPr>
              <a:t>销量 × 单价 汇总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560320" cy="1737360"/>
          </a:xfrm>
          <a:prstGeom prst="roundRect">
            <a:avLst/>
          </a:prstGeom>
          <a:solidFill>
            <a:srgbClr val="EEF3FB"/>
          </a:solidFill>
          <a:ln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33333"/>
                </a:solidFill>
                <a:latin typeface="微软雅黑"/>
              </a:rPr>
              <a:t>产品数</a:t>
            </a:r>
          </a:p>
          <a:p>
            <a:pPr algn="ctr"/>
            <a:r>
              <a:rPr sz="2400" b="1">
                <a:solidFill>
                  <a:srgbClr val="2F5597"/>
                </a:solidFill>
                <a:latin typeface="微软雅黑"/>
              </a:rPr>
              <a:t>3 款</a:t>
            </a:r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</a:rPr>
              <a:t>A、B、C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737360"/>
            <a:ext cx="2560320" cy="1737360"/>
          </a:xfrm>
          <a:prstGeom prst="roundRect">
            <a:avLst/>
          </a:prstGeom>
          <a:solidFill>
            <a:srgbClr val="EEF3FB"/>
          </a:solidFill>
          <a:ln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33333"/>
                </a:solidFill>
                <a:latin typeface="微软雅黑"/>
              </a:rPr>
              <a:t>最高收入产品</a:t>
            </a:r>
          </a:p>
          <a:p>
            <a:pPr algn="ctr"/>
            <a:r>
              <a:rPr sz="2400" b="1">
                <a:solidFill>
                  <a:srgbClr val="2F5597"/>
                </a:solidFill>
                <a:latin typeface="微软雅黑"/>
              </a:rPr>
              <a:t>B · ¥720</a:t>
            </a:r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</a:rPr>
              <a:t>占比 35.6%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5597"/>
                </a:solidFill>
                <a:latin typeface="微软雅黑"/>
              </a:rPr>
              <a:t>关键结论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• 本期总收入 2,020.00 元，总销量 45 件，整体表现符合预期。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• 产品 B 收入最高（720 元），是本期收入主力。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• 产品 C 单价最高（60 元）但销量最低（10 件），具备放量潜力。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销售汇报 · 图表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43000"/>
          <a:ext cx="67665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589520" y="1143000"/>
          <a:ext cx="40690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89520" y="3794760"/>
          <a:ext cx="4069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70"/>
                <a:gridCol w="1017270"/>
                <a:gridCol w="1017270"/>
                <a:gridCol w="101727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t>产品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t>销量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t>单价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t>收入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¥35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¥700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¥48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¥720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¥60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t>¥600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t>¥2,020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销售汇报 · 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11064240" cy="1143000"/>
          </a:xfrm>
          <a:prstGeom prst="roundRect">
            <a:avLst/>
          </a:prstGeom>
          <a:solidFill>
            <a:srgbClr val="F5F8FD"/>
          </a:solidFill>
          <a:ln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1. 提升产品 C 销量</a:t>
            </a:r>
          </a:p>
          <a:p>
            <a:r>
              <a:rPr sz="1250">
                <a:solidFill>
                  <a:srgbClr val="333333"/>
                </a:solidFill>
                <a:latin typeface="微软雅黑"/>
              </a:rPr>
              <a:t>产品 C 单价 60 元为最高，销量仅 10 件。建议加大曝光与试用，销量提升至 20 件可增加约 ¥600 收入（+29.7%）。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41448"/>
            <a:ext cx="11064240" cy="1143000"/>
          </a:xfrm>
          <a:prstGeom prst="roundRect">
            <a:avLst/>
          </a:prstGeom>
          <a:solidFill>
            <a:srgbClr val="F5F8FD"/>
          </a:solidFill>
          <a:ln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2. 稳固产品 B 主力地位</a:t>
            </a:r>
          </a:p>
          <a:p>
            <a:r>
              <a:rPr sz="1250">
                <a:solidFill>
                  <a:srgbClr val="333333"/>
                </a:solidFill>
                <a:latin typeface="微软雅黑"/>
              </a:rPr>
              <a:t>产品 B 以 15 件 × 48 元贡献 720 元，为收入第一来源。建议保持库存与供货稳定，避免断货。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39896"/>
            <a:ext cx="11064240" cy="1143000"/>
          </a:xfrm>
          <a:prstGeom prst="roundRect">
            <a:avLst/>
          </a:prstGeom>
          <a:solidFill>
            <a:srgbClr val="F5F8FD"/>
          </a:solidFill>
          <a:ln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3. 对产品 A 做价格测试</a:t>
            </a:r>
          </a:p>
          <a:p>
            <a:r>
              <a:rPr sz="1250">
                <a:solidFill>
                  <a:srgbClr val="333333"/>
                </a:solidFill>
                <a:latin typeface="微软雅黑"/>
              </a:rPr>
              <a:t>产品 A 销量最高但单价最低（35 元）。建议小幅提价 5% 观察销量弹性，若销量不降可增收约 ¥35。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64240" cy="1143000"/>
          </a:xfrm>
          <a:prstGeom prst="roundRect">
            <a:avLst/>
          </a:prstGeom>
          <a:solidFill>
            <a:srgbClr val="F5F8FD"/>
          </a:solidFill>
          <a:ln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4. 建立周度监控机制</a:t>
            </a:r>
          </a:p>
          <a:p>
            <a:r>
              <a:rPr sz="1250">
                <a:solidFill>
                  <a:srgbClr val="333333"/>
                </a:solidFill>
                <a:latin typeface="微软雅黑"/>
              </a:rPr>
              <a:t>按周跟踪销量、单价与收入三项指标，重点关注收入占比偏离超过 5 个百分点的产品。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