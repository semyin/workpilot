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"/>
  </p:notesMasterIdLst>
  <p:sldIdLst>
    <p:sldId id="256" r:id="rId1"/>
    <p:sldId id="257" r:id="rId2"/>
    <p:sldId id="258" r:id="rId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5" Type="http://schemas.openxmlformats.org/officeDocument/2006/relationships/presProps" Target="presProps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7" Type="http://schemas.openxmlformats.org/officeDocument/2006/relationships/viewProps" Target="viewProps.xml" /><Relationship Id="rId4" Type="http://schemas.openxmlformats.org/officeDocument/2006/relationships/notesMaster" Target="notesMasters/notesMaster1.xml" /><Relationship Id="rId6" Type="http://schemas.openxmlformats.org/officeDocument/2006/relationships/tableStyles" Target="tableStyle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补测备注：先讲总收入</a:t>
            </a:r>
            <a:r>
              <a:rPr lang="en-US">
                <a:latin typeface="Arial"/>
                <a:ea typeface="Microsoft YaHei"/>
              </a:rPr>
              <a:t>2020</a:t>
            </a:r>
            <a:r>
              <a:rPr lang="zh-CN">
                <a:latin typeface="Arial"/>
                <a:ea typeface="Microsoft YaHei"/>
              </a:rPr>
              <a:t>元，再说明三款产品的差异。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chart" Target="charts/chart2.xml" /><Relationship Id="rId2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</c:f>
              <c:strCache>
                <c:ptCount val="1"/>
                <c:pt idx="0">
                  <c:v>收入（元）</c:v>
                </c:pt>
              </c:strCache>
            </c:strRef>
          </c:tx>
          <c:spPr>
            <a:solidFill>
              <a:srgbClr val="2F5597"/>
            </a:solidFill>
          </c:spPr>
          <c:cat>
            <c:strRef>
              <c:f>sheet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3"/>
                <c:pt idx="0">
                  <c:v>700</c:v>
                </c:pt>
                <c:pt idx="1">
                  <c:v>720</c:v>
                </c:pt>
                <c:pt idx="2">
                  <c:v>600</c:v>
                </c:pt>
              </c:numCache>
            </c:numRef>
          </c:val>
        </c:ser>
        <c:dLbls>
          <c:numFmt formatCode="¥#,##0" sourceLinked="0"/>
          <c:txPr>
            <a:bodyPr/>
            <a:lstStyle/>
            <a:p>
              <a:pPr>
                <a:defRPr sz="12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/>
        <c:crosses val="autoZero"/>
        <c:auto val="1"/>
        <c:lblAlgn val="ctr"/>
        <c:lblOffset val="100"/>
        <c:noMultiLvlLbl val="0"/>
      </c:cat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微软雅黑"/>
        </a:defRPr>
      </a:pPr>
      <a:endParaRPr lang="en-US"/>
    </a:p>
  </c:txPr>
</c:chartSpace>
</file>

<file path=ppt/slides/charts/chart2.xml><?xml version="1.0" encoding="utf-8"?>
<c:chartSpace xmlns:a="http://schemas.openxmlformats.org/drawingml/2006/main" xmlns:c="http://schemas.openxmlformats.org/drawingml/2006/chart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</c:f>
              <c:strCache>
                <c:ptCount val="1"/>
                <c:pt idx="0">
                  <c:v>销量（件）</c:v>
                </c:pt>
              </c:strCache>
            </c:strRef>
          </c:tx>
          <c:cat>
            <c:strRef>
              <c:f>sheet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3"/>
                <c:pt idx="0">
                  <c:v>20</c:v>
                </c:pt>
                <c:pt idx="1">
                  <c:v>15</c:v>
                </c:pt>
                <c:pt idx="2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068027336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/>
        <c:crosses val="autoZero"/>
        <c:auto val="1"/>
        <c:lblAlgn val="ctr"/>
        <c:lblOffset val="100"/>
        <c:noMultiLvlLbl val="0"/>
      </c:catAx>
    </c:plotArea>
    <c:dispBlanksAs val="gap"/>
  </c:chart>
  <c:txPr>
    <a:bodyPr/>
    <a:lstStyle/>
    <a:p>
      <a:pPr>
        <a:defRPr sz="1100">
          <a:latin typeface="微软雅黑"/>
        </a:defRPr>
      </a:pPr>
      <a:endParaRPr lang="en-US"/>
    </a:p>
  </c:txPr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4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600" b="1">
                <a:solidFill>
                  <a:srgbClr val="FFFFFF">
                    <a:alpha val="100000"/>
                  </a:srgbClr>
                </a:solidFill>
                <a:latin typeface="微软雅黑"/>
                <a:ea typeface="宋体"/>
                <a:cs typeface="+mn-cs"/>
              </a:rPr>
              <a:t>销售汇报</a:t>
            </a:r>
            <a:r>
              <a:rPr lang="en-US" sz="2600" b="1">
                <a:solidFill>
                  <a:srgbClr val="FFFFFF">
                    <a:alpha val="100000"/>
                  </a:srgbClr>
                </a:solidFill>
                <a:latin typeface="微软雅黑"/>
                <a:ea typeface="宋体"/>
                <a:cs typeface="+mn-cs"/>
              </a:rPr>
              <a:t xml:space="preserve"> · </a:t>
            </a:r>
            <a:r>
              <a:rPr lang="zh-CN" sz="2600" b="1">
                <a:solidFill>
                  <a:srgbClr val="FFFFFF">
                    <a:alpha val="100000"/>
                  </a:srgbClr>
                </a:solidFill>
                <a:latin typeface="微软雅黑"/>
                <a:ea typeface="宋体"/>
                <a:cs typeface="+mn-cs"/>
              </a:rPr>
              <a:t>编辑补测已完成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微软雅黑"/>
              </a:rPr>
              <a:t>2026 年 10 月 · 虚构演示数据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总销量</a:t>
            </a:r>
            <a:endParaRPr/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45 件</a:t>
            </a:r>
            <a:endParaRPr/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产品 A / B / C 合计</a:t>
            </a: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总收入</a:t>
            </a:r>
            <a:endParaRPr/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¥2,020</a:t>
            </a:r>
            <a:endParaRPr/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销量 × 单价 汇总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产品数</a:t>
            </a:r>
            <a:endParaRPr/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3 款</a:t>
            </a:r>
            <a:endParaRPr/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A、B、C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52560" y="1737360"/>
            <a:ext cx="2560320" cy="1737360"/>
          </a:xfrm>
          <a:prstGeom prst="roundRect">
            <a:avLst/>
          </a:prstGeom>
          <a:solidFill>
            <a:srgbClr val="EEF3FB"/>
          </a:solidFill>
          <a:ln>
            <a:solidFill>
              <a:srgbClr val="B4C6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微软雅黑"/>
              </a:rPr>
              <a:t>最高收入产品</a:t>
            </a:r>
            <a:endParaRPr/>
          </a:p>
          <a:p>
            <a:pPr algn="ctr"/>
            <a:r>
              <a:rPr sz="2400" b="1">
                <a:solidFill>
                  <a:srgbClr val="2F5597"/>
                </a:solidFill>
                <a:latin typeface="微软雅黑"/>
              </a:rPr>
              <a:t>B · ¥720</a:t>
            </a:r>
            <a:endParaRPr/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</a:rPr>
              <a:t>占比 35.6%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5597"/>
                </a:solidFill>
                <a:latin typeface="微软雅黑"/>
              </a:rPr>
              <a:t>关键结论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rPr/>
              <a:t>• 本期总收入 2,020.00 元，总销量 45 件，整体表现符合预期。</a:t>
            </a:r>
            <a:endParaRPr/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rPr/>
              <a:t>• 产品 B 收入最高（720 元），是本期收入主力。</a:t>
            </a:r>
            <a:endParaRPr/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rPr/>
              <a:t>• 产品 C 单价最高（60 元）但销量最低（10 件），具备放量潜力。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销售汇报 · 图表</a:t>
            </a:r>
            <a:endParaRPr/>
          </a:p>
        </p:txBody>
      </p:sp>
      <p:graphicFrame>
        <p:nvGraphicFramePr>
          <p:cNvPr id="14" name="Chart 3"/>
          <p:cNvGraphicFramePr/>
          <p:nvPr/>
        </p:nvGraphicFramePr>
        <p:xfrm>
          <a:off x="548640" y="1143000"/>
          <a:ext cx="6766560" cy="4937760"/>
        </p:xfrm>
        <a:graphic>
          <a:graphicData uri="http://schemas.openxmlformats.org/drawingml/2006/chart">
            <c:chart r:id="rId0"/>
          </a:graphicData>
        </a:graphic>
      </p:graphicFrame>
      <p:graphicFrame>
        <p:nvGraphicFramePr>
          <p:cNvPr id="15" name="Chart 4"/>
          <p:cNvGraphicFramePr/>
          <p:nvPr/>
        </p:nvGraphicFramePr>
        <p:xfrm>
          <a:off x="7589520" y="1143000"/>
          <a:ext cx="4069080" cy="2377440"/>
        </p:xfrm>
        <a:graphic>
          <a:graphicData uri="http://schemas.openxmlformats.org/drawingml/2006/chart">
            <c:chart r:id="rId1"/>
          </a:graphicData>
        </a:graphic>
      </p:graphicFrame>
      <p:graphicFrame>
        <p:nvGraphicFramePr>
          <p:cNvPr id="16" name="Table 5"/>
          <p:cNvGraphicFramePr>
            <a:graphicFrameLocks noGrp="1"/>
          </p:cNvGraphicFramePr>
          <p:nvPr/>
        </p:nvGraphicFramePr>
        <p:xfrm>
          <a:off x="7589520" y="3794760"/>
          <a:ext cx="4069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>
                  <a:extLst>
                    <a:ext uri="{9D8B030D-6E8A-4147-A177-3AD203B41FA5}">
                      <a16:colId val="1"/>
                    </a:ext>
                  </a:extLst>
                </a:gridCol>
                <a:gridCol w="1017270">
                  <a:extLst>
                    <a:ext uri="{9D8B030D-6E8A-4147-A177-3AD203B41FA5}">
                      <a16:colId val="2"/>
                    </a:ext>
                  </a:extLst>
                </a:gridCol>
                <a:gridCol w="1017270">
                  <a:extLst>
                    <a:ext uri="{9D8B030D-6E8A-4147-A177-3AD203B41FA5}">
                      <a16:colId val="3"/>
                    </a:ext>
                  </a:extLst>
                </a:gridCol>
                <a:gridCol w="101727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产品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销量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单价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收入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20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¥35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¥700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B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15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¥48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¥720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¥60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latin typeface="微软雅黑"/>
                        </a:defRPr>
                      </a:pPr>
                      <a:r>
                        <a:rPr/>
                        <a:t>¥600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总计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45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—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微软雅黑"/>
                        </a:defRPr>
                      </a:pPr>
                      <a:r>
                        <a:rPr/>
                        <a:t>¥2,020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2"/>
          <p:cNvSpPr txBox="1"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销售汇报 · 建议</a:t>
            </a:r>
            <a:endParaRPr/>
          </a:p>
        </p:txBody>
      </p:sp>
      <p:sp>
        <p:nvSpPr>
          <p:cNvPr id="20" name="Rounded Rectangle 3"/>
          <p:cNvSpPr/>
          <p:nvPr/>
        </p:nvSpPr>
        <p:spPr>
          <a:xfrm>
            <a:off x="548640" y="1143000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1. 提升产品 C 销量</a:t>
            </a:r>
            <a:endParaRPr/>
          </a:p>
          <a:p>
            <a:pPr/>
            <a:r>
              <a:rPr sz="1250">
                <a:solidFill>
                  <a:srgbClr val="333333"/>
                </a:solidFill>
                <a:latin typeface="微软雅黑"/>
              </a:rPr>
              <a:t>产品 C 单价 60 元为最高，销量仅 10 件。建议加大曝光与试用，销量提升至 20 件可增加约 ¥600 收入（+29.7%）。</a:t>
            </a:r>
            <a:endParaRPr/>
          </a:p>
        </p:txBody>
      </p:sp>
      <p:sp>
        <p:nvSpPr>
          <p:cNvPr id="21" name="Rounded Rectangle 4"/>
          <p:cNvSpPr/>
          <p:nvPr/>
        </p:nvSpPr>
        <p:spPr>
          <a:xfrm>
            <a:off x="548640" y="2441448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2. 稳固产品 B 主力地位</a:t>
            </a:r>
            <a:endParaRPr/>
          </a:p>
          <a:p>
            <a:pPr/>
            <a:r>
              <a:rPr sz="1250">
                <a:solidFill>
                  <a:srgbClr val="333333"/>
                </a:solidFill>
                <a:latin typeface="微软雅黑"/>
              </a:rPr>
              <a:t>产品 B 以 15 件 × 48 元贡献 720 元，为收入第一来源。建议保持库存与供货稳定，避免断货。</a:t>
            </a:r>
            <a:endParaRPr/>
          </a:p>
        </p:txBody>
      </p:sp>
      <p:sp>
        <p:nvSpPr>
          <p:cNvPr id="22" name="Rounded Rectangle 5"/>
          <p:cNvSpPr/>
          <p:nvPr/>
        </p:nvSpPr>
        <p:spPr>
          <a:xfrm>
            <a:off x="548640" y="3739896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3. 对产品 A 做价格测试</a:t>
            </a:r>
            <a:endParaRPr/>
          </a:p>
          <a:p>
            <a:pPr/>
            <a:r>
              <a:rPr sz="1250">
                <a:solidFill>
                  <a:srgbClr val="333333"/>
                </a:solidFill>
                <a:latin typeface="微软雅黑"/>
              </a:rPr>
              <a:t>产品 A 销量最高但单价最低（35 元）。建议小幅提价 5% 观察销量弹性，若销量不降可增收约 ¥35。</a:t>
            </a:r>
            <a:endParaRPr/>
          </a:p>
        </p:txBody>
      </p:sp>
      <p:sp>
        <p:nvSpPr>
          <p:cNvPr id="23" name="Rounded Rectangle 6"/>
          <p:cNvSpPr/>
          <p:nvPr/>
        </p:nvSpPr>
        <p:spPr>
          <a:xfrm>
            <a:off x="548640" y="5038344"/>
            <a:ext cx="11064240" cy="1143000"/>
          </a:xfrm>
          <a:prstGeom prst="roundRect">
            <a:avLst/>
          </a:prstGeom>
          <a:solidFill>
            <a:srgbClr val="F5F8FD"/>
          </a:solidFill>
          <a:ln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bIns="109728" rtlCol="0" anchor="ctr"/>
          <a:lstStyle/>
          <a:p>
            <a:pPr algn="ctr"/>
            <a:r>
              <a:rPr sz="1500" b="1">
                <a:solidFill>
                  <a:srgbClr val="2F5597"/>
                </a:solidFill>
                <a:latin typeface="微软雅黑"/>
              </a:rPr>
              <a:t>4. 建立周度监控机制</a:t>
            </a:r>
            <a:endParaRPr/>
          </a:p>
          <a:p>
            <a:pPr/>
            <a:r>
              <a:rPr sz="1250">
                <a:solidFill>
                  <a:srgbClr val="333333"/>
                </a:solidFill>
                <a:latin typeface="微软雅黑"/>
              </a:rPr>
              <a:t>按周跟踪销量、单价与收入三项指标，重点关注收入占比偏离超过 5 个百分点的产品。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2026-10-01T17:43:35Z</dcterms:created>
  <dcterms:modified xsi:type="dcterms:W3CDTF">2026-10-01T17:43:35Z</dcterms:modified>
</cp:coreProperties>
</file>